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84" r:id="rId35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2" r:id="rId33"/>
    <p:sldId id="283" r:id="rId34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891B2"/>
                </a:solidFill>
                <a:latin typeface="Noto Sans CJK SC"/>
                <a:ea typeface="Noto Sans CJK SC"/>
              </a:rPr>
              <a:t>EMBODIED INTELLIGENCE · TECH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5156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VLA 大模型技术分享报告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BFDBFE"/>
                </a:solidFill>
                <a:latin typeface="Noto Sans CJK SC"/>
                <a:ea typeface="Noto Sans CJK SC"/>
              </a:rPr>
              <a:t>视觉-语言-动作模型：发展轨迹、技术路线与训练部署实践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3C5FD"/>
                </a:solidFill>
                <a:latin typeface="Noto Sans CJK SC"/>
                <a:ea typeface="Noto Sans CJK SC"/>
              </a:rPr>
              <a:t>解析对象：ACT / act-plus-plus（Mobile ALOHA） · NVIDIA Isaac-GR00T N1 · Physical Intelligence openpi（π0）· Google robotics_transformer（RT-1 / RT-2）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46320"/>
            <a:ext cx="1938528" cy="6858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01  发展背景与意义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4846320"/>
            <a:ext cx="1938528" cy="6858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02  与传统控制对比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8656" y="4846320"/>
            <a:ext cx="1938528" cy="6858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03  技术路线与理论框架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0063" y="4846320"/>
            <a:ext cx="1938528" cy="6858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04  训练部署全流程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1472" y="4846320"/>
            <a:ext cx="1938528" cy="6858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05  发展趋势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4360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Noto Sans CJK SC"/>
                <a:ea typeface="Noto Sans CJK SC"/>
              </a:rPr>
              <a:t>具身智能技术组 · 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CONTENTS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9144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" cy="8686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16152"/>
            <a:ext cx="987552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2A43"/>
                </a:solidFill>
                <a:latin typeface="Noto Sans CJK SC"/>
                <a:ea typeface="Noto Sans CJK SC"/>
              </a:rPr>
              <a:t>VLA 发展背景、轨迹与意义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Noto Sans CJK SC"/>
                <a:ea typeface="Noto Sans CJK SC"/>
              </a:rPr>
              <a:t>从深度学习到基础模型：VLA 的诞生逻辑、发展脉络与核心优势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67712"/>
            <a:ext cx="9144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914400" cy="8686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9424"/>
            <a:ext cx="987552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2A43"/>
                </a:solidFill>
                <a:latin typeface="Noto Sans CJK SC"/>
                <a:ea typeface="Noto Sans CJK SC"/>
              </a:rPr>
              <a:t>与传统视觉机器人控制对比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Noto Sans CJK SC"/>
                <a:ea typeface="Noto Sans CJK SC"/>
              </a:rPr>
              <a:t>感知-规划-控制流水线 vs 端到端 VLA：架构、泛化与工程差异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00984"/>
            <a:ext cx="9144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914400" cy="8686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82696"/>
            <a:ext cx="987552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2A43"/>
                </a:solidFill>
                <a:latin typeface="Noto Sans CJK SC"/>
                <a:ea typeface="Noto Sans CJK SC"/>
              </a:rPr>
              <a:t>VLA 大模型技术路线与理论框架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Noto Sans CJK SC"/>
                <a:ea typeface="Noto Sans CJK SC"/>
              </a:rPr>
              <a:t>RT-1/RT-2、ACT、π0、GR00T N1 四条代表性路线的架构与理论剖析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34256"/>
            <a:ext cx="9144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34256"/>
            <a:ext cx="914400" cy="8686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15968"/>
            <a:ext cx="987552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2A43"/>
                </a:solidFill>
                <a:latin typeface="Noto Sans CJK SC"/>
                <a:ea typeface="Noto Sans CJK SC"/>
              </a:rPr>
              <a:t>模型训练部署全流程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Noto Sans CJK SC"/>
                <a:ea typeface="Noto Sans CJK SC"/>
              </a:rPr>
              <a:t>数据采集→清洗→转换→增强→训练→部署→性能测试完整流水线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67527"/>
            <a:ext cx="914400" cy="86868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67527"/>
            <a:ext cx="914400" cy="8686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39"/>
            <a:ext cx="987552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2A43"/>
                </a:solidFill>
                <a:latin typeface="Noto Sans CJK SC"/>
                <a:ea typeface="Noto Sans CJK SC"/>
              </a:rPr>
              <a:t>发展趋势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467"/>
                </a:solidFill>
                <a:latin typeface="Noto Sans CJK SC"/>
                <a:ea typeface="Noto Sans CJK SC"/>
              </a:rPr>
              <a:t>数据、模型、推理、评测与生态五个维度的未来演进方向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891B2"/>
                </a:solidFill>
                <a:latin typeface="Noto Sans CJK SC"/>
                <a:ea typeface="Noto Sans CJK SC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VLA 发展背景、轨迹与意义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Vision-Language-Action：机器人学习从专用小模型走向通用基础模型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01 · 发展背景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为什么会出现：三股技术洪流的交汇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566928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大模型能力外溢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83280" cy="3383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LLM/VLM（GPT、PaLM、Gemini、LLaMA）展现出强大的开放世界语义理解与常识推理能力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视觉-语言预训练（CLIP、PaLI、SigLIP）打通了图像与文本的统一表征空间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自然的问题：能否让互联网级知识“长出手脚”，直接输出机器人动作？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657600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机器人学习的数据瓶颈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383280" cy="3383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传统强化学习/模仿学习任务专用、数据昂贵，换任务/换场景即失效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遥操作数据采集成本高（ALOHA 将双臂遥操作硬件降至 ~2 万美元量级）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Open X-Embodiment 等跨机器人数据集汇聚 100 万+ 轨迹，规模法则开始在机器人领域生效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6576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657600" cy="5669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365760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</a:rPr>
              <a:t>硬件与算力成熟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383280" cy="3383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端侧算力（Jetson Orin/Thor）足以承载十亿至几十亿参数模型实时推理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灵巧硬件（双臂、人形、灵巧手）快速降价，具身平台多样化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仿真（Isaac Lab、MuJoCo）+ 合成数据管线可低成本放大真实数据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23560"/>
            <a:ext cx="1124712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881360" cy="7772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核心命题：VLA = 视觉（Vision）+ 语言（Language）→ 动作（Action）。用一个统一的大模型，接收图像观测与自然语言指令，直接生成机器人控制动作，实现“看得懂、听得懂、做得到”。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01 · 发展轨迹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技术演进时间线（2022–2026）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24712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3" y="1618488"/>
            <a:ext cx="274320" cy="274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2022.12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D4ED8"/>
                </a:solidFill>
                <a:latin typeface="Noto Sans CJK SC"/>
                <a:ea typeface="Noto Sans CJK SC"/>
              </a:rPr>
              <a:t>RT-1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Google robotics_transformer：首个大规模真实机器人 Transformer 策略，13 万条轨迹 / 700+ 任务，动作离散化为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618488"/>
            <a:ext cx="27432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2023.04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55648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891B2"/>
                </a:solidFill>
                <a:latin typeface="Noto Sans CJK SC"/>
                <a:ea typeface="Noto Sans CJK SC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Stanford ALOHA / act-plus-plus：CVAE + Transformer 动作分块（Action Chunking），低成本双臂精细操作里程碑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1618488"/>
            <a:ext cx="274320" cy="274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2023.07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D4ED8"/>
                </a:solidFill>
                <a:latin typeface="Noto Sans CJK SC"/>
                <a:ea typeface="Noto Sans CJK SC"/>
              </a:rPr>
              <a:t>RT-2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“VLA”概念正式提出：VLM（PaLI-X/PaLM-E）直接微调输出动作 token，互联网知识迁移到操作，涌现语义泛化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76088" y="1618488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Noto Sans CJK SC"/>
                <a:ea typeface="Noto Sans CJK SC"/>
              </a:rPr>
              <a:t>2024.01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Noto Sans CJK SC"/>
                <a:ea typeface="Noto Sans CJK SC"/>
              </a:rPr>
              <a:t>Mobile ALOHA
&amp; OXE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act-plus-plus 扩展到移动操作；Open X-Embodiment 聚合 22 种机器人数据，RT-X 验证跨具身正迁移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57416" y="1618488"/>
            <a:ext cx="274320" cy="274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A580C"/>
                </a:solidFill>
                <a:latin typeface="Noto Sans CJK SC"/>
                <a:ea typeface="Noto Sans CJK SC"/>
              </a:rPr>
              <a:t>2024.10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EA580C"/>
                </a:solidFill>
                <a:latin typeface="Noto Sans CJK SC"/>
                <a:ea typeface="Noto Sans CJK SC"/>
              </a:rPr>
              <a:t>π0 (openpi)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Physical Intelligence：VLM 骨干（PaliGemma）+ Flow Matching 动作专家，连续高频（50Hz）灵巧控制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618488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4384" y="1188720"/>
            <a:ext cx="146304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Noto Sans CJK SC"/>
                <a:ea typeface="Noto Sans CJK SC"/>
              </a:rPr>
              <a:t>2025.03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2103120"/>
            <a:ext cx="13898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7536" y="2194560"/>
            <a:ext cx="1316736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Noto Sans CJK SC"/>
                <a:ea typeface="Noto Sans CJK SC"/>
              </a:rPr>
              <a:t>GR00T N1/N1.5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35824" y="2834640"/>
            <a:ext cx="1280160" cy="2743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NVIDIA 开源人形机器人基础模型：双系统架构（VLM 慢思考 + DiT 快执行），数据金字塔训练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5568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Noto Sans CJK SC"/>
                <a:ea typeface="Noto Sans CJK SC"/>
              </a:rPr>
              <a:t>演进主线：动作离散 token（RT-1/RT-2）→ 动作分块生成（ACT）→ 扩散/流匹配连续动作（π0、GR00T）；单一具身 → 跨具身、跨任务通用基础模型。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2103120"/>
            <a:ext cx="1389888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20072" y="1618488"/>
            <a:ext cx="27432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11887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A580C"/>
                </a:solidFill>
                <a:latin typeface="Noto Sans CJK SC"/>
                <a:ea typeface="Noto Sans CJK SC"/>
              </a:rPr>
              <a:t>2025.11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8864" y="2194560"/>
            <a:ext cx="13167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A580C"/>
                </a:solidFill>
                <a:latin typeface="Noto Sans CJK SC"/>
                <a:ea typeface="Noto Sans CJK SC"/>
              </a:rPr>
              <a:t>π*0.6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2834640"/>
            <a:ext cx="1280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Physical Intelligence：RECAP 三阶段训练（示范→纠正→自主 RL），从自身经验学习，吞吐量翻倍、失败率减半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43616" y="2103120"/>
            <a:ext cx="1389888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01400" y="1618488"/>
            <a:ext cx="27432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0" y="11887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80192" y="2194560"/>
            <a:ext cx="13167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4ED8"/>
                </a:solidFill>
                <a:latin typeface="Noto Sans CJK SC"/>
                <a:ea typeface="Noto Sans CJK SC"/>
              </a:rPr>
              <a:t>π0.7 &amp;
GR00T N1.7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2834640"/>
            <a:ext cx="1280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75467"/>
                </a:solidFill>
                <a:latin typeface="Noto Sans CJK SC"/>
                <a:ea typeface="Noto Sans CJK SC"/>
              </a:rPr>
              <a:t>π0.7 可组合泛化+多模态提示，零样本跨具身；N1.7 换 Cosmos-Reason2 骨干，3.2 万小时人类视频，Apache 2.0 商用开源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01 · 意义与核心优势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的战略意义与四大核心优势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战略意义：VLA 把机器人控制从“针对每个任务写程序/训小模型”转变为“训练一次基础模型 + 少量微调适配”，是具身智能的 GPT 时刻的候选路径。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5321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2801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92808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4ED8"/>
                </a:solidFill>
                <a:latin typeface="Noto Sans CJK SC"/>
                <a:ea typeface="Noto Sans CJK SC"/>
              </a:rPr>
              <a:t>优势 1：语义泛化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5120640" cy="1143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继承 VLM 的互联网知识：能理解“把濒危动物玩偶递给我”这类训练集中从未出现的组合概念（RT-2 涌现能力评测泛化成功率约 2× RT-1）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12801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8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4ED8"/>
                </a:solidFill>
                <a:latin typeface="Noto Sans CJK SC"/>
                <a:ea typeface="Noto Sans CJK SC"/>
              </a:rPr>
              <a:t>优势 2：端到端简化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50008"/>
            <a:ext cx="5120640" cy="1143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感知、语义理解、决策、控制统一在一个网络中优化，消除模块间接口误差累积；ACT 证明端到端可完成插接、开盖等毫米级精细操作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55321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2801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58767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4ED8"/>
                </a:solidFill>
                <a:latin typeface="Noto Sans CJK SC"/>
                <a:ea typeface="Noto Sans CJK SC"/>
              </a:rPr>
              <a:t>优势 3：跨具身与规模效应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7"/>
            <a:ext cx="5120640" cy="1143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同一架构可吸收多机器人、多形态数据（OXE/GR00T 数据金字塔），数据越多能力越强，呈现类似 LLM 的 Scaling Law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5321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12801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858767"/>
            <a:ext cx="51206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4ED8"/>
                </a:solidFill>
                <a:latin typeface="Noto Sans CJK SC"/>
                <a:ea typeface="Noto Sans CJK SC"/>
              </a:rPr>
              <a:t>优势 4：自然语言交互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15967"/>
            <a:ext cx="5120640" cy="1143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任务以自然语言下达，无需重新编程；支持指令组合、多步任务分解，与上层 LLM 规划器（如 SayCan、GR00T System 2）无缝衔接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60720"/>
            <a:ext cx="1124712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60720"/>
            <a:ext cx="10881360" cy="6858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F46"/>
                </a:solidFill>
                <a:latin typeface="Noto Sans CJK SC"/>
                <a:ea typeface="Noto Sans CJK SC"/>
              </a:rPr>
              <a:t>一句话总结：VLA 让机器人第一次拥有“通用先验”——先看懂世界、听懂人话，再学会动手，而不是从零学每一个动作。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891B2"/>
                </a:solidFill>
                <a:latin typeface="Noto Sans CJK SC"/>
                <a:ea typeface="Noto Sans CJK SC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与传统视觉机器人控制对比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模块化流水线 vs 端到端 VLA：范式差异与工程权衡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02 · 架构对比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两种范式的信息流对比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75467"/>
                </a:solidFill>
                <a:latin typeface="Noto Sans CJK SC"/>
                <a:ea typeface="Noto Sans CJK SC"/>
              </a:rPr>
              <a:t>传统视觉机器人控制（模块化流水线）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92024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475467"/>
                </a:solidFill>
                <a:latin typeface="Noto Sans CJK SC"/>
                <a:ea typeface="Noto Sans CJK SC"/>
              </a:rPr>
              <a:t>相机标定
图像采集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95728" y="1920240"/>
            <a:ext cx="365760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600200"/>
            <a:ext cx="192024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475467"/>
                </a:solidFill>
                <a:latin typeface="Noto Sans CJK SC"/>
                <a:ea typeface="Noto Sans CJK SC"/>
              </a:rPr>
              <a:t>目标检测
位姿估计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27448" y="1920240"/>
            <a:ext cx="365760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600200"/>
            <a:ext cx="192024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475467"/>
                </a:solidFill>
                <a:latin typeface="Noto Sans CJK SC"/>
                <a:ea typeface="Noto Sans CJK SC"/>
              </a:rPr>
              <a:t>任务规划
(状态机)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9168" y="1920240"/>
            <a:ext cx="365760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59" y="1600200"/>
            <a:ext cx="192024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475467"/>
                </a:solidFill>
                <a:latin typeface="Noto Sans CJK SC"/>
                <a:ea typeface="Noto Sans CJK SC"/>
              </a:rPr>
              <a:t>运动规划
(MoveIt/RRT)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90887" y="1920240"/>
            <a:ext cx="365760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600200"/>
            <a:ext cx="192024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475467"/>
                </a:solidFill>
                <a:latin typeface="Noto Sans CJK SC"/>
                <a:ea typeface="Noto Sans CJK SC"/>
              </a:rPr>
              <a:t>轨迹跟踪
(PID/MPC)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特点：每个模块独立设计、独立调参；接口为人工定义的中间表示（位姿、轨迹点）；误差逐级累积，语义理解能力有限。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4ED8"/>
                </a:solidFill>
                <a:latin typeface="Noto Sans CJK SC"/>
                <a:ea typeface="Noto Sans CJK SC"/>
              </a:rPr>
              <a:t>VLA 端到端范式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210312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多视角图像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+ 语言指令</a:t>
            </a:r>
          </a:p>
          <a:p>
            <a:pPr algn="ctr"/>
            <a:r>
              <a:rPr sz="1200" b="1">
                <a:solidFill>
                  <a:srgbClr val="1D4ED8"/>
                </a:solidFill>
                <a:latin typeface="Noto Sans CJK SC"/>
                <a:ea typeface="Noto Sans CJK SC"/>
              </a:rPr>
              <a:t>+ 本体状态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51760" y="4297680"/>
            <a:ext cx="457200" cy="32004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0" y="3749039"/>
            <a:ext cx="4937760" cy="13716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VLA 大模型</a:t>
            </a:r>
          </a:p>
          <a:p>
            <a:pPr algn="ctr"/>
            <a:r>
              <a:rPr sz="1200" b="0">
                <a:solidFill>
                  <a:srgbClr val="BFDBFE"/>
                </a:solidFill>
                <a:latin typeface="Noto Sans CJK SC"/>
                <a:ea typeface="Noto Sans CJK SC"/>
              </a:rPr>
              <a:t>VLM 骨干（视觉/语言统一编码）+ 动作生成头</a:t>
            </a:r>
          </a:p>
          <a:p>
            <a:pPr algn="ctr"/>
            <a:r>
              <a:rPr sz="1100" b="0">
                <a:solidFill>
                  <a:srgbClr val="BFDBFE"/>
                </a:solidFill>
                <a:latin typeface="Noto Sans CJK SC"/>
                <a:ea typeface="Noto Sans CJK SC"/>
              </a:rPr>
              <a:t>(自回归 token / 扩散 / 流匹配)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29600" y="4297680"/>
            <a:ext cx="457200" cy="32004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78240" y="3749039"/>
            <a:ext cx="2926080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059669"/>
                </a:solidFill>
                <a:latin typeface="Noto Sans CJK SC"/>
                <a:ea typeface="Noto Sans CJK SC"/>
              </a:rPr>
              <a:t>动作块 / 动作序列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关节角、EEF 位姿、夹爪、底盘 (5–50Hz)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特点：像素与文本直接映射到动作；语义、几何、动力学知识隐式融合在同一组权重中；靠数据与算力换取通用性。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471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76072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本质区别：传统方法“人来分解问题，机器执行”；VLA “机器从数据里学会分解问题”。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02 · 逐项对比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传统视觉控制 vs VLA：八个维度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754880"/>
                <a:gridCol w="507492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对比维度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传统视觉机器人控制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VLA 大模型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系统架构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感知→规划→控制串行模块，人工定义接口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单一神经网络端到端，图像+语言→动作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任务定义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编程/示教器/状态机，改任务需重新开发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自然语言指令，零/少样本切换任务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泛化能力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限于标定场景与已建模物体，光照/位置变化敏感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对新物体、新指令、新场景有语义级泛化（RT-2 涌现评测约 2× RT-1）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误差特性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各模块误差累积（标定误差+检测误差+规划误差）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整体优化无接口误差，但存在分布外失效、可解释性差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数据/知识来源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人工建模 + CAD + 手工特征/专用检测模型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互联网图文预训练 + 大规模遥操作/仿真轨迹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开发成本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单任务开发周期长，专家依赖强；运行算力低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预训练成本高，但下游适配仅需数十~数百条演示（π0/GR00T 微调）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实时性/确定性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毫秒级确定性控制，易做安全认证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10–50Hz 推理，需动作分块/蒸馏/量化优化；确定性与安全认证是挑战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典型代表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手眼标定+抓取位姿检测（GPD）+MoveIt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RT-1/RT-2、ACT、π0、GR00T N1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897880"/>
            <a:ext cx="11384280" cy="56692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972800" cy="566928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92400E"/>
                </a:solidFill>
                <a:latin typeface="Noto Sans CJK SC"/>
                <a:ea typeface="Noto Sans CJK SC"/>
              </a:rPr>
              <a:t>务实结论：两者并非取代关系——工业高精度重复场景传统方法仍占优；开放环境、长尾任务、人机交互场景 VLA 优势显著，混合架构（VLA 决策 + 传统底层控制器执行）是当前工程主流。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891B2"/>
                </a:solidFill>
                <a:latin typeface="Noto Sans CJK SC"/>
                <a:ea typeface="Noto Sans CJK SC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VLA 大模型技术路线与理论框架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四条代表性路线：RT 系列 · ACT · π0 · GR00T 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理论框架总览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的统一数学形式与三大技术流派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05156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统一形式化：学习策略  π_θ ( a_{t:t+H} | o_t , ℓ )</a:t>
            </a:r>
          </a:p>
          <a:p>
            <a:pPr algn="ctr"/>
            <a:r>
              <a:rPr sz="1250" b="0">
                <a:solidFill>
                  <a:srgbClr val="BFDBFE"/>
                </a:solidFill>
                <a:latin typeface="Noto Sans CJK SC"/>
                <a:ea typeface="Noto Sans CJK SC"/>
              </a:rPr>
              <a:t>o_t：多视角图像 + 本体感知状态；ℓ：自然语言指令；a_{t:t+H}：未来 H 步动作块（action chunk）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657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657600" cy="7772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474720" cy="7772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流派一：自回归离散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3401568" cy="297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把连续动作按维度分箱离散化为 256 个 bin 的 token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动作预测 = 下一个 token 预测，完全复用 LLM 训练/推理栈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代表：RT-1（专用 Transformer）、RT-2（VLM 共同微调）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优点：与 VLM 天然统一；缺点：精度受分箱限制、推理慢（逐 token）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77440"/>
            <a:ext cx="3657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2377440"/>
            <a:ext cx="3657600" cy="7772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3474720" cy="7772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流派二：生成式建模（CVAE）+ 动作分块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91840"/>
            <a:ext cx="3401568" cy="297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CVAE 编码演示动作的多模态分布，隐变量 z 捕捉风格差异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一次预测 k 步动作块 + 时间集成（temporal ensembling）平滑执行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代表：ACT / act-plus-plus（ALOHA、Mobile ALOHA）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优点：高频精细控制、训练轻量；缺点：单任务为主、语言条件弱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77440"/>
            <a:ext cx="3657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377440"/>
            <a:ext cx="3657600" cy="7772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474720" cy="77724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流派三：扩散 / 流匹配连续动作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91840"/>
            <a:ext cx="3401568" cy="297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以扩散模型或 Flow Matching 建模连续动作分布，迭代去噪生成动作块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VLM 骨干提供语义条件，动作专家网络负责生成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代表：π0 / openpi（Flow Matching）、GR00T N1（Diffusion Transformer）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优点：连续高精度、多模态分布、50Hz 高频；缺点：多步去噪需推理优化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路线一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robotics_transformer：RT-1 / RT-2（Google DeepMind）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Noto Sans CJK SC"/>
                <a:ea typeface="Noto Sans CJK SC"/>
              </a:rPr>
              <a:t>路线定位：动作 Token 化 + 自回归 Transformer——把机器人控制变成“语言建模”问题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6 帧历史图像
300×300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2888" y="1938528"/>
            <a:ext cx="301752" cy="27432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EfficientNet-B3
+FiLM 语言调制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8616" y="1938528"/>
            <a:ext cx="301752" cy="27432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48656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TokenLearner
81→8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24344" y="1938528"/>
            <a:ext cx="301752" cy="27432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44383" y="1600200"/>
            <a:ext cx="2057400" cy="9601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</a:rPr>
              <a:t>Decoder-only
Transformer (35M)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20071" y="1938528"/>
            <a:ext cx="301752" cy="27432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40112" y="1600200"/>
            <a:ext cx="2057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11 维动作
每维 256-bin 离散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57784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RT-1（2022）要点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数据：13 个机器人 17 个月采集 13 万条轨迹、700+ 任务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动作空间：手臂 7 维 + 底盘 3 维 + 模式 1 维，全部离散化为 token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3Hz 闭环推理；已见任务成功率 97%，新任务泛化明显强于此前基线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意义：首次证明“大数据 + Transformer”在真实机器人上的规模收益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48640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RT-2（2023）要点：VLA 概念的提出者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骨干：PaLI-X (55B) / PaLM-E (12B) 视觉语言模型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关键做法：动作 token 直接复用文本词表（如覆盖低频 token），机器人数据与互联网 VQA 数据共同微调（co-fine-tuning）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涌现能力：符号理解、推理链、人类识别等未训练技能迁移到操作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泛化评测成功率约为 RT-1 的 2 倍；证明 VLM 预训练知识可直接转化为操作能力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理论内核：P(a|o,ℓ) 分解为自回归 token 概率乘积 ∏ P(token_i | token_&lt;i, o, ℓ)——机器人控制 = 条件语言建模。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路线二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act-plus-plus：ACT 动作分块 Transformer（Stanford ALOHA）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891B2"/>
                </a:solidFill>
                <a:latin typeface="Noto Sans CJK SC"/>
                <a:ea typeface="Noto Sans CJK SC"/>
              </a:rPr>
              <a:t>路线定位：CVAE 生成式模仿学习 + 动作分块——低成本硬件上的毫米级精细双臂操作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4 相机 RGB
+ 关节状态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2888" y="1938528"/>
            <a:ext cx="301752" cy="274320"/>
          </a:xfrm>
          <a:prstGeom prst="rightArrow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ResNet-18 ×4
视觉特征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8616" y="1938528"/>
            <a:ext cx="301752" cy="274320"/>
          </a:xfrm>
          <a:prstGeom prst="rightArrow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48656" y="1600200"/>
            <a:ext cx="2057400" cy="960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CVAE 编码器
(仅训练时) → z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24344" y="1938528"/>
            <a:ext cx="301752" cy="274320"/>
          </a:xfrm>
          <a:prstGeom prst="rightArrow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44383" y="1600200"/>
            <a:ext cx="2057400" cy="96012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</a:rPr>
              <a:t>Transformer
编码-解码器 (~80M)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20071" y="1938528"/>
            <a:ext cx="301752" cy="274320"/>
          </a:xfrm>
          <a:prstGeom prst="rightArrow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40112" y="1600200"/>
            <a:ext cx="2057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动作块 k=100
关节角序列 @50Hz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57784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核心机制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动作分块（Action Chunking）：一次预测未来 k=100 步动作，将有效决策频率降低 100 倍，显著缓解模仿学习的复合误差（compounding error）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时间集成（Temporal Ensembling）：对同一时刻的多次重叠预测加权平均，保证动作平滑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CVAE：隐变量 z 建模人类演示的多模态性；推理时 z=0 取均值策略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48640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工程与成果（act-plus-plus 仓库）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仅需 50 条演示即可学会插线、开盖、装配等精细任务，成功率 80–90%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Mobile ALOHA：扩展底盘动作维度，实现炒菜、擦桌、乘电梯等移动操作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仓库含 ACT / Diffusion Policy / VINN 三种策略实现与仿真环境（MuJoCo）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局限：语言条件能力弱（任务专用），是“小而精”的 A（动作）侧代表，为大 VLA 提供动作分块与高频控制的关键组件思想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理论内核：max_θ E[ log π_θ(a_{t:t+k} | o_t, z) ] − β·D_KL( q(z|a,o) ‖ N(0,I) ) —— CVAE 证据下界 + 分块降低误差累积。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路线三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openpi：π0 / π0-FAST / π0.5 / π*0.6 / π0.7（Physical Intelligence）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Noto Sans CJK SC"/>
                <a:ea typeface="Noto Sans CJK SC"/>
              </a:rPr>
              <a:t>路线定位：VLM 骨干 + Flow Matching 动作专家——通用机器人基础模型的开源标杆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05740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多视角图像
+ 语言 + 状态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2888" y="1938528"/>
            <a:ext cx="301752" cy="274320"/>
          </a:xfrm>
          <a:prstGeom prst="rightArrow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2928" y="1600200"/>
            <a:ext cx="205740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PaliGemma VLM
(3B, SigLIP+Gemma)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8616" y="1938528"/>
            <a:ext cx="301752" cy="274320"/>
          </a:xfrm>
          <a:prstGeom prst="rightArrow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48656" y="1600200"/>
            <a:ext cx="205740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动作专家 (300M)
分离权重/共享注意力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24344" y="1938528"/>
            <a:ext cx="301752" cy="274320"/>
          </a:xfrm>
          <a:prstGeom prst="rightArrow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44383" y="1600200"/>
            <a:ext cx="2057400" cy="9601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SC"/>
                <a:ea typeface="Noto Sans CJK SC"/>
              </a:rPr>
              <a:t>Flow Matching
10 步去噪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20071" y="1938528"/>
            <a:ext cx="301752" cy="274320"/>
          </a:xfrm>
          <a:prstGeom prst="rightArrow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40112" y="1600200"/>
            <a:ext cx="2057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102A43"/>
                </a:solidFill>
                <a:latin typeface="Noto Sans CJK SC"/>
                <a:ea typeface="Noto Sans CJK SC"/>
              </a:rPr>
              <a:t>50 步动作块
50Hz 连续控制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57784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核心机制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Flow Matching（流匹配）：学习速度场 v_θ，把高斯噪声连续“流动”到专家动作，比扩散更少步数、训练更稳定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MoE 式结构：VLM 处理图文 token，动作专家处理状态/动作 token，两者通过共享自注意力交互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π0-FAST：用 DCT 频域压缩把动作序列高效 token 化，走自回归路线，训练提速 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486400" cy="3108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工程与成果（openpi 仓库）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预训练：10,000+ 小时、7 种机器人平台、68 类任务的自有+OXE 混合数据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开源 π0/π0.5 基座与 DROID/ALOHA/LIBERO 微调 checkpoint，提供 JAX/PyTorch 双实现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叠衣服、清桌面、组装纸箱等长时程灵巧任务达到 SOTA；π0.5 强化开放世界泛化（进入陌生家庭做清洁）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微调门槛：1–20 小时数据即可适配新任务；LoRA 微调单卡 A100 可行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Noto Sans CJK SC"/>
                <a:ea typeface="Noto Sans CJK SC"/>
              </a:rPr>
              <a:t>理论内核：min_θ E‖ v_θ(a^τ, o, ℓ, τ) − (a − ε) ‖² ，a^τ = τ·a + (1−τ)·ε —— 条件流匹配损失，一次生成整段连续动作块。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路线四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Isaac-GR00T：GR00T N1 / N1.5 / N1.7（NVIDIA）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9669"/>
                </a:solidFill>
                <a:latin typeface="Noto Sans CJK SC"/>
                <a:ea typeface="Noto Sans CJK SC"/>
              </a:rPr>
              <a:t>路线定位：双系统认知架构 + 数据金字塔——面向人形机器人的开放基础模型与全栈生态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19456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059669"/>
                </a:solidFill>
                <a:latin typeface="Noto Sans CJK SC"/>
                <a:ea typeface="Noto Sans CJK SC"/>
              </a:rPr>
              <a:t>输入</a:t>
            </a:r>
          </a:p>
          <a:p>
            <a:pPr algn="ctr"/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多视角图像/语言/</a:t>
            </a:r>
          </a:p>
          <a:p>
            <a:pPr algn="ctr"/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本体状态(跨具身投影)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2148840"/>
            <a:ext cx="365760" cy="274320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600200"/>
            <a:ext cx="3931920" cy="13716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System 2 · 慢思考（~10Hz）</a:t>
            </a:r>
          </a:p>
          <a:p>
            <a:pPr algn="ctr"/>
            <a:r>
              <a:rPr sz="1100" b="0">
                <a:solidFill>
                  <a:srgbClr val="A7F3D0"/>
                </a:solidFill>
                <a:latin typeface="Noto Sans CJK SC"/>
                <a:ea typeface="Noto Sans CJK SC"/>
              </a:rPr>
              <a:t>Eagle-2 VLM（SmolLM2 + SigLIP-2）</a:t>
            </a:r>
          </a:p>
          <a:p>
            <a:pPr algn="ctr"/>
            <a:r>
              <a:rPr sz="1100" b="0">
                <a:solidFill>
                  <a:srgbClr val="A7F3D0"/>
                </a:solidFill>
                <a:latin typeface="Noto Sans CJK SC"/>
                <a:ea typeface="Noto Sans CJK SC"/>
              </a:rPr>
              <a:t>场景理解、指令解析、任务推理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2148840"/>
            <a:ext cx="365760" cy="274320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1600200"/>
            <a:ext cx="393192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System 1 · 快执行（~120Hz）</a:t>
            </a:r>
          </a:p>
          <a:p>
            <a:pPr algn="ctr"/>
            <a:r>
              <a:rPr sz="1100" b="0">
                <a:solidFill>
                  <a:srgbClr val="D1FAE5"/>
                </a:solidFill>
                <a:latin typeface="Noto Sans CJK SC"/>
                <a:ea typeface="Noto Sans CJK SC"/>
              </a:rPr>
              <a:t>Diffusion Transformer 动作头</a:t>
            </a:r>
          </a:p>
          <a:p>
            <a:pPr algn="ctr"/>
            <a:r>
              <a:rPr sz="1100" b="0">
                <a:solidFill>
                  <a:srgbClr val="D1FAE5"/>
                </a:solidFill>
                <a:latin typeface="Noto Sans CJK SC"/>
                <a:ea typeface="Noto Sans CJK SC"/>
              </a:rPr>
              <a:t>流匹配去噪生成连续动作块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5577840" cy="2606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数据金字塔（Data Pyramid）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塔基：海量网络视频与人类第一视角数据（学习世界知识与操作先验，用潜在动作/逆动力学标注伪动作）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塔身：仿真合成数据（Isaac Lab / GR00T-Dreams 世界模型生成轨迹）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塔尖：真实机器人遥操作数据（最贵最少，锚定真实动力学）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5486400" cy="2606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工程与成果（Isaac-GR00T 仓库）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N1 为 2B 级开放权重模型；N1.5 改进 VLM 对齐与 FLARE 目标，语言跟随率 46.6%→93.3%（GR-1 类人形评测）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跨具身支持：GR-1/G1 人形、单臂/双臂等，通过具身特定投影层 + 新具身微调接入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• 全栈生态：Isaac Lab 仿真、OSMO 训练编排、Jetson Thor 端侧部署、TensorRT 推理优化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65F46"/>
                </a:solidFill>
                <a:latin typeface="Noto Sans CJK SC"/>
                <a:ea typeface="Noto Sans CJK SC"/>
              </a:rPr>
              <a:t>理论内核：Kahneman 双系统认知（System1 直觉快 / System2 推理慢）× 流匹配动作生成 × 异构数据统一训练。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最新进展</a:t>
            </a:r>
          </a:p>
          <a:p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2025–2026 前沿更新：π*0.6 · π0.7 · GR00T N1.7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887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1615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A580C"/>
                </a:solidFill>
                <a:latin typeface="Noto Sans CJK SC"/>
                <a:ea typeface="Noto Sans CJK SC"/>
              </a:rPr>
              <a:t>π*0.6（2025.11 · Physical Intelligence）— VLA 从自身经验中学习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RECAP 三阶段训练：专家示范（模仿）→ 人工实时纠正（教练式干预）→ 自主 RL 练习（价值函数标注正/负样本，无需动作对数概率）。叠衣、意式咖啡、纸箱组装等困难任务吞吐量提升 2 倍以上、失败率约减半，可连续自主运行 13 小时+ —— 标志 VLA 从纯模仿学习迈入自我改进阶段（"RL is back"）。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8872" cy="1417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7063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Noto Sans CJK SC"/>
                <a:ea typeface="Noto Sans CJK SC"/>
              </a:rPr>
              <a:t>π0.7（2026 · Physical Intelligence）— 可组合泛化与可控提示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把已学技能像语言模型组合概念一样"混搭"解决从未训练过的新任务（少量数据即可操作新厨电并完成烹饪）；支持多模态可控提示：自然语言 + 视觉子目标图像 + 任务元数据（速度/风格约束）；零样本跨具身迁移到未见过的硬件平台执行叠衣等任务；50Hz 实时控制，单一通用模型达到或超越专用微调模型水平。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118872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2511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59669"/>
                </a:solidFill>
                <a:latin typeface="Noto Sans CJK SC"/>
                <a:ea typeface="Noto Sans CJK SC"/>
              </a:rPr>
              <a:t>GR00T N1.7（2026 · NVIDIA）— 骨干升级与完全商用开源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骨干升级为 Cosmos-Reason2-2B（Qwen3-VL）+ Diffusion Transformer 动作头，延续双系统架构；预训练数据跃升至 3.2 万小时真实人类第一视角视频 + 8 千小时仿真；实现指尖级灵巧、接触密集小件装配与双臂协同（Unitree G1、AGIBot Genie 实测）；首次以 Apache 2.0 + 商用许可完全开放权重与代码，完善 ONNX/TensorRT 部署链路，FANUC、ABB、LG 等厂商已开始采用。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70448"/>
            <a:ext cx="11155680" cy="56692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88736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2A43"/>
                </a:solidFill>
                <a:latin typeface="Noto Sans CJK SC"/>
                <a:ea typeface="Noto Sans CJK SC"/>
              </a:rPr>
              <a:t>共同趋势：基础模型底座之上，前沿正转向经验强化学习（RECAP）、技能组合泛化（π0.7）与开放商用生态（N1.7）——与 PART 05 五大趋势相互印证。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03 · 横向对比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四大代表模型关键参数一览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75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14600"/>
                <a:gridCol w="2468880"/>
                <a:gridCol w="2560320"/>
                <a:gridCol w="2560320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维度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RT-1 / RT-2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ACT (act-plus-plus)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π0 (openpi)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GR00T N1/N1.5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机构/时间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Google DeepMind
2022 / 2023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Stanford
2023 / 2024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Physical Intelligence
2024–2025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NVIDIA
2025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模型规模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35M / 12B–55B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~80M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3B + 300M 动作专家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~2B（VLM+DiT）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视觉/语言骨干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EfficientNet+USE /
PaLI-X·PaLM-E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ResNet-18（无语言骨干）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PaliGemma (SigLIP+Gemma)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Eagle-2 (SigLIP-2+SmolLM2)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动作生成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离散 token 自回归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CVAE + 动作块回归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Flow Matching 连续动作块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DiT 流匹配去噪动作块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控制频率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3 Hz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50 Hz（块内）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50 Hz（块 50 步）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~120 Hz（System1）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训练数据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13 万轨迹 / 700 任务；
RT-2 加网络图文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每任务 ~50 条人工演示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1 万+ 小时自有 + OXE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真实+仿真+人类视频
数据金字塔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定位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验证规模化与语义涌现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低成本精细双臂操作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通用操作基础模型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人形机器人基础模型+生态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891B2"/>
                </a:solidFill>
                <a:latin typeface="Noto Sans CJK SC"/>
                <a:ea typeface="Noto Sans CJK SC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模型训练部署全流程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数据采集 → 清洗 → 转换 → 增强 → 训练 → 部署 → 性能测试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04 · 总体流程图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从数据到落地的七阶段流水线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481328" cy="11430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① 数据采集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遥操作/仿真/视频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20824" y="1463040"/>
            <a:ext cx="1481328" cy="11430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② 数据清洗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质检·去重·过滤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83864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21608" y="1463040"/>
            <a:ext cx="1481328" cy="11430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③ 数据转换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统一格式 LeRobot/RLDS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84648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22392" y="1463040"/>
            <a:ext cx="1481328" cy="11430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④ 数据增强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视觉/动作/合成放大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85432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23176" y="1463040"/>
            <a:ext cx="1481328" cy="11430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⑤ 模型训练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预训练→后训练微调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86216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1481328" cy="11430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⑥ 模型部署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量化·推理服务·端侧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287000" y="1892807"/>
            <a:ext cx="256032" cy="274320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24744" y="1463040"/>
            <a:ext cx="1481328" cy="11430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SC"/>
                <a:ea typeface="Noto Sans CJK SC"/>
              </a:rPr>
              <a:t>⑦ 性能测试</a:t>
            </a:r>
          </a:p>
          <a:p>
            <a:pPr algn="ctr"/>
            <a:r>
              <a:rPr sz="950" b="0">
                <a:solidFill>
                  <a:srgbClr val="E0EAFF"/>
                </a:solidFill>
                <a:latin typeface="Noto Sans CJK SC"/>
                <a:ea typeface="Noto Sans CJK SC"/>
              </a:rPr>
              <a:t>仿真/实机评测迭代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34640"/>
            <a:ext cx="11567160" cy="502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2400E"/>
                </a:solidFill>
                <a:latin typeface="Noto Sans CJK SC"/>
                <a:ea typeface="Noto Sans CJK SC"/>
              </a:rPr>
              <a:t>⟲ 数据飞轮闭环：⑦ 测试中发现的失败案例回流到 ① 定向补采 / ④ 定向增强，持续迭代（π0、GR00T 均采用此闭环）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352044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5715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阶段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关键活动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典型工具/实践（四个开源项目中的对应）</a:t>
                      </a:r>
                    </a:p>
                  </a:txBody>
                  <a:tcPr marL="50800" marR="50800" marT="25400" marB="25400">
                    <a:solidFill>
                      <a:srgbClr val="164E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①–④ 数据工程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占整体工作量 60% 以上；决定模型上限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ALOHA 遥操作、Isaac Lab 仿真、GR00T-Dreams 合成、LeRobot/RLDS 数据格式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⑤ 训练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两阶段：跨具身预训练 + 目标平台后训练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openpi train 脚本（JAX/PyTorch, FSDP）、Isaac-GR00T gr00t_finetune（LoRA/全参）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⑥ 部署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策略服务器-客户端解耦，端侧优化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openpi serve_policy + websocket 客户端；GR00T TensorRT/Jetson 部署脚本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⑦ 测试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离线指标 + 仿真基准 + 实机 A/B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02A43"/>
                          </a:solidFill>
                          <a:latin typeface="Noto Sans CJK SC"/>
                          <a:ea typeface="Noto Sans CJK SC"/>
                        </a:rPr>
                        <a:t>LIBERO/SimplerEnv 基准、act-plus-plus 仿真评测、真实成功率统计</a:t>
                      </a:r>
                    </a:p>
                  </a:txBody>
                  <a:tcPr marL="50800" marR="50800" marT="25400" marB="2540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04 · 数据工程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数据采集 → 清洗 → 转换 → 增强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77840" cy="4572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394960" cy="4572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① 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5349240" cy="1874519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遥操作：ALOHA 双臂关节映射、VR 手柄、外骨骼；同步录制多视角 RGB(-D)、关节状态、动作、语言标注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仿真采集：Isaac Lab / MuJoCo 脚本化专家 + 域随机化批量生成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非机器人数据：人类第一视角视频、网络图文（塔基数据）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规范：统一坐标系与单位、时间戳硬同步、每条轨迹附任务指令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4572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143000"/>
            <a:ext cx="5394960" cy="4572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② 数据清洗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73352"/>
            <a:ext cx="5349240" cy="1874519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剔除失败/中断/超时轨迹（或保留并标注用于失败感知训练）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过滤传感器异常：丢帧、图像过曝/遮挡、关节读数跳变（速度/加速度阈值检测）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去重与均衡：近重复轨迹去重，任务/物体/场景分布重采样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语言标注质检：指令-行为一致性抽检，LLM 辅助重写多样化指令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49039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557784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5394960" cy="4572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③ 数据转换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1"/>
            <a:ext cx="5349240" cy="1874519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统一 schema：observation(images/state) + action + language + episode 元数据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目标格式：LeRobot Dataset（GR00T N1.5 / openpi 支持）、RLDS/TFDS（RT-X/OXE）、HDF5（act-plus-plus）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动作空间对齐：关节角 vs EEF 位姿、绝对 vs 增量、归一化统计量（mean/std 或 quantile）落盘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跨具身映射：GR00T 具身投影头 / π0 动作维度 padding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577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749039"/>
            <a:ext cx="5577840" cy="4572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749039"/>
            <a:ext cx="5394960" cy="4572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④ 数据增强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79391"/>
            <a:ext cx="5349240" cy="1874519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视觉增强：随机裁剪、颜色抖动、亮度对比度、相机 jitter（RT-1/ACT 常规配置）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仿真域随机化：纹理、光照、物体位姿、动力学参数随机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合成放大：GR00T-Dreams 世界模型由少量真实轨迹生成大量新场景轨迹；DexMimicGen 自动扩增装配演示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• 语言增强：同义指令改写、多语言指令，提高指令鲁棒性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04 · 模型训练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两阶段训练：跨具身预训练 + 目标平台后训练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606040" cy="11887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VLM 初始化</a:t>
            </a:r>
          </a:p>
          <a:p>
            <a:pPr algn="ctr"/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PaliGemma / Eagle-2
加载图文预训练权重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81528" y="1673352"/>
            <a:ext cx="329184" cy="292608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606040" cy="11887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跨具身预训练</a:t>
            </a:r>
          </a:p>
          <a:p>
            <a:pPr algn="ctr"/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混合数据（OXE/自有/仿真）
大 batch、多机 FSDP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53328" y="1673352"/>
            <a:ext cx="329184" cy="292608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2606040" cy="11887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后训练/微调</a:t>
            </a:r>
          </a:p>
          <a:p>
            <a:pPr algn="ctr"/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目标机器人 1–100 小时数据
全参 or LoRA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25128" y="1673352"/>
            <a:ext cx="329184" cy="292608"/>
          </a:xfrm>
          <a:prstGeom prst="rightArrow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72600" y="1234440"/>
            <a:ext cx="2606040" cy="11887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</a:rPr>
              <a:t>验证与选型</a:t>
            </a:r>
          </a:p>
          <a:p>
            <a:pPr algn="ctr"/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离线 loss/MSE + 仿真成功率
checkpoint 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577840" cy="3017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关键训练配置（以 openpi / GR00T 为参照）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损失函数：流匹配 MSE（π0/GR00T）或 token 交叉熵（RT 系/π0-FAST）；ACT 为 L1 重建 + KL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归一化：动作/状态按数据集统计量归一化，微调新平台必须重新计算 norm stats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冻结策略：小数据微调可冻结 VLM 只训动作专家/投影层；数据充足全参微调效果更佳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算力参考：π0 LoRA 微调单卡 A100/4090(量化) 可行，全参需多卡 80GB；GR00T N1.5 微调支持单节点多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97480"/>
            <a:ext cx="5486400" cy="3017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工程要点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数据加载是瓶颈：视频解码/图像预处理放 GPU 或 DALI，多进程 prefetch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混合比例调度：真实:仿真:视频数据配比是关键超参（GR00T 数据金字塔按阶段调整）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训练监控：除 loss 外必须跟踪动作 MSE 分维度曲线与验证集 rollout 视频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复现基线：先在 LIBERO/ALOHA-sim 等公开基准复现官方结果，再引入自有数据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Noto Sans CJK SC"/>
                <a:ea typeface="Noto Sans CJK SC"/>
              </a:rPr>
              <a:t>经验法则：预训练决定“会不会”，后训练决定“好不好”；微调数据质量 &gt; 数量，50 条高质量演示常胜过 500 条噪声演示。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04 · 模型部署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从 checkpoint 到机器人：推理服务与端侧优化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291840" cy="1737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1D4ED8"/>
                </a:solidFill>
                <a:latin typeface="Noto Sans CJK SC"/>
                <a:ea typeface="Noto Sans CJK SC"/>
              </a:rPr>
              <a:t>推理侧（GPU 服务器 / Jetson）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策略服务器 serve_policy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模型加载 + 预处理 + 去噪推理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WebSocket / gRPC 接口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22191" y="1920240"/>
            <a:ext cx="457200" cy="32004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481328"/>
            <a:ext cx="685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475467"/>
                </a:solidFill>
                <a:latin typeface="Noto Sans CJK SC"/>
                <a:ea typeface="Noto Sans CJK SC"/>
              </a:rPr>
              <a:t>obs↑ act↓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291840" cy="1737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EA580C"/>
                </a:solidFill>
                <a:latin typeface="Noto Sans CJK SC"/>
                <a:ea typeface="Noto Sans CJK SC"/>
              </a:rPr>
              <a:t>机器人侧（实时控制机）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客户端：采集观测→请求动作块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动作队列 + 时间集成平滑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底层关节控制器 (100Hz–1kHz)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08392" y="1920240"/>
            <a:ext cx="457200" cy="320040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234440"/>
            <a:ext cx="347472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059669"/>
                </a:solidFill>
                <a:latin typeface="Noto Sans CJK SC"/>
                <a:ea typeface="Noto Sans CJK SC"/>
              </a:rPr>
              <a:t>安全层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关节限位/速度/力矩钳制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工作空间围栏 + 急停</a:t>
            </a:r>
          </a:p>
          <a:p>
            <a:pPr algn="ctr"/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异常检测（动作跳变、置信度）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5577840" cy="25146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推理优化手段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量化：FP16/BF16 → INT8/FP8（TensorRT）；π0 支持 4090 级消费卡推理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减少去噪步数：流匹配 10 步内收敛；蒸馏到更少步或一步生成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动作分块摊销：一次推理输出 50 步动作，网络 2–5Hz 调用即可支撑 50Hz 控制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KV cache / 图优化：VLM 前缀缓存，CUDA Graph 固化推理图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5486400" cy="25146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Noto Sans CJK SC"/>
                <a:ea typeface="Noto Sans CJK SC"/>
              </a:rPr>
              <a:t>部署形态选择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云/边服务器 + 局域网：开发迭代快，注意网络抖动（openpi 默认形态）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端侧一体化：Jetson AGX Orin/Thor 承载 GR00T N1，离线可用、延迟确定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混合：System2 云端大模型规划 + System1 端侧高频执行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• 版本管理：模型+norm stats+预处理配置整体打包，灰度发布可回滚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2A43"/>
                </a:solidFill>
                <a:latin typeface="Noto Sans CJK SC"/>
                <a:ea typeface="Noto Sans CJK SC"/>
              </a:rPr>
              <a:t>延迟预算示例（50Hz 控制）：图像采集 5ms + 传输 5ms + 推理 60ms（摊销到 50 步 ≈ 1.2ms/步）+ 控制器 1ms —— 动作分块是实时性的关键。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04 · 性能测试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三级评测体系：离线指标 → 仿真基准 → 实机验证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7315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47472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L1 离线评测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分钟级 · 每次训练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401568" cy="2926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动作 MSE / L1（分维度）、token 准确率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验证集 rollout 可视化对比人类演示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作用：快速筛掉明显失败的 checkpoint，但离线指标与真实成功率相关性有限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657600" cy="73152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88720"/>
            <a:ext cx="347472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L2 仿真基准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小时级 · 每个候选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57400"/>
            <a:ext cx="3401568" cy="2926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LIBERO（openpi 提供微调基线）、SimplerEnv、RoboCasa、act-plus-plus 内置双臂仿真任务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批量并行 rollout 统计成功率、SPL、平均完成时间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域随机化下的鲁棒性扫描（光照/位姿/干扰物）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657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88720"/>
            <a:ext cx="347472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L3 实机测试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E0EAFF"/>
                </a:solidFill>
                <a:latin typeface="Noto Sans CJK SC"/>
                <a:ea typeface="Noto Sans CJK SC"/>
              </a:rPr>
              <a:t>天级 · 上线前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57400"/>
            <a:ext cx="3401568" cy="2926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标准化评测协议：固定任务集 × N 次重复（≥10）× 多初始条件，盲测 A/B 对比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指标：成功率、子任务完成率、干预次数/小时、执行时长、碰撞/安全事件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• 失败归因分析 → 回流数据飞轮定向补采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1247120" cy="1051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40680"/>
            <a:ext cx="1088136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2400E"/>
                </a:solidFill>
                <a:latin typeface="Noto Sans CJK SC"/>
                <a:ea typeface="Noto Sans CJK SC"/>
              </a:rPr>
              <a:t>测试要点：① 仿真高分 ≠ 实机可用，sim-to-real gap 必须用 L3 校准；② 评测集与训练集严格隔离（新物体/新位置/新指令三档泛化）；③ 报告置信区间而非单次成功率；④ 长尾失败案例库是最宝贵的资产。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891B2"/>
                </a:solidFill>
                <a:latin typeface="Noto Sans CJK SC"/>
                <a:ea typeface="Noto Sans CJK SC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VLA 走向何方：数据、模型、推理、评测与生态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05 · 发展趋势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五大趋势展望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10881360" cy="384048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① 数据：从遥操作走向“万物皆数据”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人类视频学习（GR00T 塔基）、世界模型合成数据（GR00T-Dreams、Cosmos）、自主采集与 RL 自我改进（π0.5 + RL）将大幅摊薄真实遥操作成本；数据配比与质量评估成为核心 know-how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76272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31136"/>
            <a:ext cx="10881360" cy="384048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② 模型：分层双系统 + 更强推理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9689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System2（VLM/LLM 推理规划）+ System1（高频动作专家）成为共识架构；链式思维（ECoT）、世界模型预测（V-JEPA 类）注入策略；模型规模在 2B–10B 区间寻找端侧最优点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9544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64408"/>
            <a:ext cx="10881360" cy="384048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③ 动作生成：流匹配成为主流，走向实时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0168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从离散 token → 扩散 → 流匹配的收敛趋势明显（π0、GR00T 均选择 FM）；蒸馏/一步生成、异步推理（Real-Time Chunking）解决高频实时性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42816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42816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881360" cy="384048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④ 评测与安全：从 demo 走向标准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统一基准（LIBERO、SimplerEnv、RoboArena 类实机联评）与第三方评测兴起；可解释性、失效预测、安全认证成为商用前置条件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76088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10881360" cy="384048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⑤ 生态：开源基座 + 垂直微调的产业格局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9671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467"/>
                </a:solidFill>
                <a:latin typeface="Noto Sans CJK SC"/>
                <a:ea typeface="Noto Sans CJK SC"/>
              </a:rPr>
              <a:t>openpi、GR00T、LeRobot 形成“机器人界的 LLaMA 生态”；上游卖基座与算力（NVIDIA 全栈），中游做具身平台适配，下游做场景微调与数据服务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05 · 发展趋势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VLA 发展趋势总览图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0261" y="987552"/>
            <a:ext cx="5511172" cy="5111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LA发展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89" y="1097280"/>
            <a:ext cx="529171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172200"/>
            <a:ext cx="112471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88136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2A43"/>
                </a:solidFill>
                <a:latin typeface="Noto Sans CJK SC"/>
                <a:ea typeface="Noto Sans CJK SC"/>
              </a:rPr>
              <a:t>图：VLA 发展趋势总览（来源：reports/VLA发展趋势.png）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PART 05 · 行业洞察</a:t>
            </a:r>
          </a:p>
          <a:p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WAIC 具身智能圆桌论坛纪要：三道物理墙与产业路线之争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9786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① 三道物理墙：具身智能规模化的核心阻碍（全场共识）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数据墙：真机交互数据成本高、无法批量爬取；表征墙：机型数据不互通、缺少通用物理表征、跨设备泛化差；闭环墙：实体试错成本高、反馈慢、数据飞轮难以快速迭代——无法复刻 LLM 的 scaling 路径，需以世界模型仿真 + 多机集群采集 + 数据回流闭环统一破局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7627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31136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② 数据获取路径：单一来源不足，多类数据混合成共识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9689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PI 主打规模化真机采集；佐治亚理工押注人类第一视角 Egocentric 数据（对齐方案尚无标准）；Genesis 用仿生手套低成本采集；Dyna 采用三层金字塔（互联网视频打底 + 真机数据 + 产线失败回流，20 万小时预训练、新任务 1–2 小时微调）；清华主张互联网视频预训练专属具身基座——真实部署回流的失败样本价值最高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9544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6440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③ 模型架构路线：VLA 与世界模型不对立，长期走向融合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01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PI：VLA+世界模型融合，生成未来画面提升长程规划；Dyna：WAM 世界动作模型主导高频操作、规划模型负责长周期任务；腾讯：认知规划/感知动作/电机控制三层 Agent 架构；智元：VLA 与世界模型同步迭代，终局为 WRAM + 分布式真机强化学习；评判标准归结为数据学习能力、跨场景泛化与推理速度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4281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42816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79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④ 企业路线选择：全栈自研 vs 纯 AI 大脑，无优劣之分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智元走全栈自研（硬件限制模型上限，自研可优化端云协同与量产成本）；PI/腾讯走纯算法路线（先用通用机械臂搭数据底座、避开硬件重资产赛道）；Sunday 折中（低成本夹爪 + 少量硬件实现大部分操作，当前瓶颈在上层 AI 模型而非硬件手爪）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76088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76088"/>
            <a:ext cx="118872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1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Noto Sans CJK SC"/>
                <a:ea typeface="Noto Sans CJK SC"/>
              </a:rPr>
              <a:t>⑤ 对本报告的启示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967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论坛结论与前述五大趋势互相印证：数据金字塔与回流闭环（对应趋势①）、分层双系统与世界模型融合（对应趋势②）、统一评测标准缺失（对应趋势④）仍是 VLA 走向规模化落地必须跨越的门槛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 · 内容整合自：具身智能会议.png / 具身智能会议2.png / 具身智能会议3.png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891B2"/>
                </a:solidFill>
                <a:latin typeface="Noto Sans CJK SC"/>
                <a:ea typeface="Noto Sans CJK SC"/>
              </a:rPr>
              <a:t>SUMMARY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总结与讨论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8813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Noto Sans CJK SC"/>
                <a:ea typeface="Noto Sans CJK SC"/>
              </a:rPr>
              <a:t>1. 范式确立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VLA 已从概念（RT-2, 2023）走到可用开源基座（π0、GR00T N1, 2024–25）：VLM 骨干 + 流匹配动作专家 + 动作分块是当前最优配方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108813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Noto Sans CJK SC"/>
                <a:ea typeface="Noto Sans CJK SC"/>
              </a:rPr>
              <a:t>2. 四个项目的互补启示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088136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RT 系证明规模与语义涌现；ACT 提供高频精细控制与低成本数据采集范式；π0 给出通用基座+微调的完整工程栈；GR00T 展示数据金字塔与全栈生态打法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108813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Noto Sans CJK SC"/>
                <a:ea typeface="Noto Sans CJK SC"/>
              </a:rPr>
              <a:t>3. 工程主线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88136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数据工程占 60% 以上工作量；两阶段训练（预训练+后训练）；动作分块摊销推理延迟；三级评测 + 数据飞轮闭环持续迭代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1772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108813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Noto Sans CJK SC"/>
                <a:ea typeface="Noto Sans CJK SC"/>
              </a:rPr>
              <a:t>4. 理性判断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10881360" cy="5029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467"/>
                </a:solidFill>
                <a:latin typeface="Noto Sans CJK SC"/>
                <a:ea typeface="Noto Sans CJK SC"/>
              </a:rPr>
              <a:t>VLA 与传统控制是互补而非替代；泛化、安全、实时性仍是落地三大挑战；建议以开源基座（openpi/GR00T）+ 自有场景数据微调作为切入路径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7880"/>
            <a:ext cx="11247120" cy="59436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93C5FD"/>
                </a:solidFill>
                <a:latin typeface="Noto Sans CJK SC"/>
                <a:ea typeface="Noto Sans CJK SC"/>
              </a:rPr>
              <a:t>参考项目：github.com/MarkFzp/act-plus-plus · NVIDIA/Isaac-GR00T · Physical-Intelligence/openpi · google-research/robotics_transformer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75467"/>
                </a:solidFill>
                <a:latin typeface="Noto Sans CJK SC"/>
                <a:ea typeface="Noto Sans CJK SC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467"/>
                </a:solidFill>
                <a:latin typeface="Noto Sans CJK SC"/>
                <a:ea typeface="Noto Sans CJK SC"/>
              </a:rPr>
              <a:t>VLA 大模型技术分享报告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谢 谢 ·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93C5FD"/>
                </a:solidFill>
                <a:latin typeface="Noto Sans CJK SC"/>
                <a:ea typeface="Noto Sans CJK SC"/>
              </a:rPr>
              <a:t>VLA 大模型技术分享报告 · 具身智能技术组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